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37160" cy="29260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10058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6B6D4"/>
                </a:solidFill>
                <a:latin typeface="Arial"/>
              </a:defRPr>
            </a:pPr>
            <a:r>
              <a:t>PROYECTO DE INTELIGENCIA ARTIFICIAL &amp; VISIÓN POR COMPUTADORA</a:t>
            </a:r>
          </a:p>
          <a:p>
            <a:pPr>
              <a:spcAft>
                <a:spcPts val="1400"/>
              </a:spcAft>
              <a:defRPr sz="3200" b="1">
                <a:solidFill>
                  <a:srgbClr val="F8FAFC"/>
                </a:solidFill>
                <a:latin typeface="Arial"/>
              </a:defRPr>
            </a:pPr>
            <a:r>
              <a:t>Sistema Inteligente de Detección en Cascada y</a:t>
            </a:r>
            <a:br/>
            <a:r>
              <a:t>Reconocimiento de Placas de Transporte Público</a:t>
            </a:r>
          </a:p>
          <a:p>
            <a:pPr>
              <a:defRPr sz="1600">
                <a:solidFill>
                  <a:srgbClr val="94A3B8"/>
                </a:solidFill>
                <a:latin typeface="Arial"/>
              </a:defRPr>
            </a:pPr>
            <a:r>
              <a:t>Arquitectura YOLO26 + Motor OCR Híbrido (PaddleOCR / OpenCV) | Sucre, Bolivia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5120640"/>
            <a:ext cx="10698480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21208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F8FAFC"/>
                </a:solidFill>
                <a:latin typeface="Arial"/>
              </a:defRPr>
            </a:pPr>
            <a:r>
              <a:t>• Modelo: Cascada YOLO26s (Buses) + YOLO26n (Matrículas) | mAP50: 98.9% y 98.6%</a:t>
            </a:r>
            <a:br/>
            <a:r>
              <a:t>• Motor OCR: PaddleOCR PP-OCRv6 + Normalizador de Placas Bolivianas | Latencia GPU: ~5.7 ms</a:t>
            </a:r>
            <a:br/>
            <a:r>
              <a:t>• Entregables: Código Completo, Dataset YOLO, Pesos, API FastAPI, Dashboard React, Informe PDF y 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VISIÓN ARTIFICIAL &amp; ALPR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Contexto y Problemática del Transporte Público Urbano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Arial"/>
              </a:defRPr>
            </a:pPr>
            <a:r>
              <a:t>Desafíos en la Ciudad de Sucre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47548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F8FAFC"/>
                </a:solidFill>
                <a:latin typeface="Arial"/>
              </a:defRPr>
            </a:pPr>
            <a:r>
              <a:t>• Falta de Trazabilidad Digital: </a:t>
            </a:r>
            <a:r>
              <a:rPr b="0">
                <a:solidFill>
                  <a:srgbClr val="94A3B8"/>
                </a:solidFill>
              </a:rPr>
              <a:t>El transporte tradicional opera sin fiscalización automatizada de recorridos ni control de frecuencias.</a:t>
            </a:r>
          </a:p>
          <a:p>
            <a:pPr>
              <a:spcAft>
                <a:spcPts val="1400"/>
              </a:spcAft>
              <a:defRPr sz="1200" b="1">
                <a:solidFill>
                  <a:srgbClr val="F8FAFC"/>
                </a:solidFill>
                <a:latin typeface="Arial"/>
              </a:defRPr>
            </a:pPr>
            <a:r>
              <a:t>• Deterioro Físico de Matrículas: </a:t>
            </a:r>
            <a:r>
              <a:rPr b="0">
                <a:solidFill>
                  <a:srgbClr val="94A3B8"/>
                </a:solidFill>
              </a:rPr>
              <a:t>La pintura negra de las placas se desgasta por lavado abrasivo, sol y polvo, dejando solo el troquel metálico.</a:t>
            </a:r>
          </a:p>
          <a:p>
            <a:pPr>
              <a:spcAft>
                <a:spcPts val="1400"/>
              </a:spcAft>
              <a:defRPr sz="1200" b="1">
                <a:solidFill>
                  <a:srgbClr val="F8FAFC"/>
                </a:solidFill>
                <a:latin typeface="Arial"/>
              </a:defRPr>
            </a:pPr>
            <a:r>
              <a:t>• Entorno Urbano Complejo: </a:t>
            </a:r>
            <a:r>
              <a:rPr b="0">
                <a:solidFill>
                  <a:srgbClr val="94A3B8"/>
                </a:solidFill>
              </a:rPr>
              <a:t>Letreros de rutas, publicidad en parabrisas y calles estrechas con tráfico denso dificultan la lectura manual.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Arial"/>
              </a:defRPr>
            </a:pPr>
            <a:r>
              <a:t>Objetivos del Proyecto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28600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6B6D4"/>
                </a:solidFill>
                <a:latin typeface="Arial"/>
              </a:defRPr>
            </a:pPr>
            <a:r>
              <a:t>✔ Detección Robusta en Cascada: </a:t>
            </a:r>
            <a:r>
              <a:rPr b="0">
                <a:solidFill>
                  <a:srgbClr val="94A3B8"/>
                </a:solidFill>
              </a:rPr>
              <a:t>Desacoplar la detección del micro de la localización de la placa para operar con alta precisión (&gt;98% mAP).</a:t>
            </a:r>
          </a:p>
          <a:p>
            <a:pPr>
              <a:spcAft>
                <a:spcPts val="1200"/>
              </a:spcAft>
              <a:defRPr sz="1200" b="1">
                <a:solidFill>
                  <a:srgbClr val="06B6D4"/>
                </a:solidFill>
                <a:latin typeface="Arial"/>
              </a:defRPr>
            </a:pPr>
            <a:r>
              <a:t>✔ Rescate Fotométrico de Placas Despintadas: </a:t>
            </a:r>
            <a:r>
              <a:rPr b="0">
                <a:solidFill>
                  <a:srgbClr val="94A3B8"/>
                </a:solidFill>
              </a:rPr>
              <a:t>Diseñar filtros OpenCV especializados capaces de revelar troqueles sin pintura.</a:t>
            </a:r>
          </a:p>
          <a:p>
            <a:pPr>
              <a:spcAft>
                <a:spcPts val="1200"/>
              </a:spcAft>
              <a:defRPr sz="1200" b="1">
                <a:solidFill>
                  <a:srgbClr val="06B6D4"/>
                </a:solidFill>
                <a:latin typeface="Arial"/>
              </a:defRPr>
            </a:pPr>
            <a:r>
              <a:t>✔ Motor OCR de Alta Fidelidad: </a:t>
            </a:r>
            <a:r>
              <a:rPr b="0">
                <a:solidFill>
                  <a:srgbClr val="94A3B8"/>
                </a:solidFill>
              </a:rPr>
              <a:t>Transcribir y normalizar formatos vehiculares bolivianos en tiempo real (&lt;10 ms).</a:t>
            </a:r>
          </a:p>
          <a:p>
            <a:pPr>
              <a:spcAft>
                <a:spcPts val="1200"/>
              </a:spcAft>
              <a:defRPr sz="1200" b="1">
                <a:solidFill>
                  <a:srgbClr val="06B6D4"/>
                </a:solidFill>
                <a:latin typeface="Arial"/>
              </a:defRPr>
            </a:pPr>
            <a:r>
              <a:t>✔ Plataforma Web Operativa: </a:t>
            </a:r>
            <a:r>
              <a:rPr b="0">
                <a:solidFill>
                  <a:srgbClr val="94A3B8"/>
                </a:solidFill>
              </a:rPr>
              <a:t>Proveer dashboard de control con persistencia SQLite, evidencias fotográficas y reglas anti-duplicados.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VISIÓN ARTIFICIAL &amp; ALPR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Arquitectura del Sistema: Enfoque en Cascada (Coarse-to-Fine)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057400" cy="4206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691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Arial"/>
              </a:defRPr>
            </a:pPr>
            <a:r>
              <a:t>1. Frame Completo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17830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  <a:latin typeface="Arial"/>
              </a:defRPr>
            </a:pPr>
            <a:r>
              <a:t>Resolución 1080p</a:t>
            </a:r>
            <a:br/>
            <a:r>
              <a:t>Escena urbana con tráfico,</a:t>
            </a:r>
            <a:br/>
            <a:r>
              <a:t>sombras y peatones.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1828800"/>
            <a:ext cx="2057400" cy="4206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08960" y="1965960"/>
            <a:ext cx="1691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Arial"/>
              </a:defRPr>
            </a:pPr>
            <a:r>
              <a:t>2. Detector Micros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468880"/>
            <a:ext cx="17830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  <a:latin typeface="Arial"/>
              </a:defRPr>
            </a:pPr>
            <a:r>
              <a:t>YOLO26s (9.4M params)</a:t>
            </a:r>
            <a:br/>
            <a:r>
              <a:t>Localiza el bus y recorta</a:t>
            </a:r>
            <a:br/>
            <a:r>
              <a:t>ROI con 5% padding.</a:t>
            </a:r>
            <a:br/>
            <a:r>
              <a:t>Latencia: 3.2 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0" y="1828800"/>
            <a:ext cx="2057400" cy="4206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0" y="1965960"/>
            <a:ext cx="1691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Arial"/>
              </a:defRPr>
            </a:pPr>
            <a:r>
              <a:t>3. Detector Placas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7800" y="2468880"/>
            <a:ext cx="17830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  <a:latin typeface="Arial"/>
              </a:defRPr>
            </a:pPr>
            <a:r>
              <a:t>YOLO26n (2.6M params)</a:t>
            </a:r>
            <a:br/>
            <a:r>
              <a:t>Enfoca la zona frontal</a:t>
            </a:r>
            <a:br/>
            <a:r>
              <a:t>y extrae la matrícula.</a:t>
            </a:r>
            <a:br/>
            <a:r>
              <a:t>Latencia: 1.8 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199" y="1828800"/>
            <a:ext cx="2057400" cy="4206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79" y="1965960"/>
            <a:ext cx="1691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Arial"/>
              </a:defRPr>
            </a:pPr>
            <a:r>
              <a:t>4. Preproceso Tonal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59" y="2468880"/>
            <a:ext cx="17830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  <a:latin typeface="Arial"/>
              </a:defRPr>
            </a:pPr>
            <a:r>
              <a:t>OpenCV Pipeline</a:t>
            </a:r>
            <a:br/>
            <a:r>
              <a:t>Deskew + Bilateral +</a:t>
            </a:r>
            <a:br/>
            <a:r>
              <a:t>CLAHE + Gamma (0.8)</a:t>
            </a:r>
            <a:br/>
            <a:r>
              <a:t>Resalta troqueles 3D.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09760" y="1828800"/>
            <a:ext cx="2057400" cy="4206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0" y="1965960"/>
            <a:ext cx="1691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Arial"/>
              </a:defRPr>
            </a:pPr>
            <a:r>
              <a:t>5. OCR &amp; Normalizador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6920" y="2468880"/>
            <a:ext cx="17830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  <a:latin typeface="Arial"/>
              </a:defRPr>
            </a:pPr>
            <a:r>
              <a:t>PaddleOCR PP-OCRv6</a:t>
            </a:r>
            <a:br/>
            <a:r>
              <a:t>Transcripción + RegEx</a:t>
            </a:r>
            <a:br/>
            <a:r>
              <a:t>Normativa boliviana.</a:t>
            </a:r>
            <a:br/>
            <a:r>
              <a:t>Persistencia SQLite.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VISIÓN ARTIFICIAL &amp; ALPR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Modelos Entrenados y Métricas Oficiales de Detección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Arial"/>
              </a:defRPr>
            </a:pPr>
            <a:r>
              <a:t>Detector de Micros — YOLO26s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47548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F8FAFC"/>
                </a:solidFill>
                <a:latin typeface="Arial"/>
              </a:defRPr>
            </a:pPr>
            <a:r>
              <a:t>Precisión (mAP@50): </a:t>
            </a:r>
            <a:r>
              <a:rPr b="1">
                <a:solidFill>
                  <a:srgbClr val="06B6D4"/>
                </a:solidFill>
              </a:rPr>
              <a:t>98.9% (0.989)</a:t>
            </a:r>
          </a:p>
          <a:p>
            <a:pPr>
              <a:spcAft>
                <a:spcPts val="1000"/>
              </a:spcAft>
              <a:defRPr sz="1100" b="1">
                <a:solidFill>
                  <a:srgbClr val="F8FAFC"/>
                </a:solidFill>
                <a:latin typeface="Arial"/>
              </a:defRPr>
            </a:pPr>
            <a:r>
              <a:t>Calidad Fina (mAP@50-95): </a:t>
            </a:r>
            <a:r>
              <a:rPr b="1">
                <a:solidFill>
                  <a:srgbClr val="F8FAFC"/>
                </a:solidFill>
              </a:rPr>
              <a:t>91.6% (0.916)</a:t>
            </a:r>
          </a:p>
          <a:p>
            <a:pPr>
              <a:spcAft>
                <a:spcPts val="1000"/>
              </a:spcAft>
              <a:defRPr sz="1100" b="1">
                <a:solidFill>
                  <a:srgbClr val="F8FAFC"/>
                </a:solidFill>
                <a:latin typeface="Arial"/>
              </a:defRPr>
            </a:pPr>
            <a:r>
              <a:t>Precision / Recall: </a:t>
            </a:r>
            <a:r>
              <a:rPr b="1">
                <a:solidFill>
                  <a:srgbClr val="F8FAFC"/>
                </a:solidFill>
              </a:rPr>
              <a:t>P = 97.6% | R = 98.2%</a:t>
            </a:r>
          </a:p>
          <a:p>
            <a:pPr>
              <a:spcAft>
                <a:spcPts val="1000"/>
              </a:spcAft>
              <a:defRPr sz="1100" b="1">
                <a:solidFill>
                  <a:srgbClr val="F8FAFC"/>
                </a:solidFill>
                <a:latin typeface="Arial"/>
              </a:defRPr>
            </a:pPr>
            <a:r>
              <a:t>Tamaño de Pesos: </a:t>
            </a:r>
            <a:r>
              <a:rPr b="1">
                <a:solidFill>
                  <a:srgbClr val="94A3B8"/>
                </a:solidFill>
              </a:rPr>
              <a:t>19.1 MB (models/micro_detector_v1.pt)</a:t>
            </a:r>
          </a:p>
          <a:p>
            <a:pPr>
              <a:spcAft>
                <a:spcPts val="1000"/>
              </a:spcAft>
              <a:defRPr sz="1100" b="1">
                <a:solidFill>
                  <a:srgbClr val="F8FAFC"/>
                </a:solidFill>
                <a:latin typeface="Arial"/>
              </a:defRPr>
            </a:pPr>
            <a:r>
              <a:t>Latencia de Inferencia: </a:t>
            </a:r>
            <a:r>
              <a:rPr b="1">
                <a:solidFill>
                  <a:srgbClr val="F59E0B"/>
                </a:solidFill>
              </a:rPr>
              <a:t>3.2 ms en GPU RTX 4080 (310+ FPS)</a:t>
            </a:r>
          </a:p>
          <a:p>
            <a:pPr>
              <a:spcAft>
                <a:spcPts val="1000"/>
              </a:spcAft>
              <a:defRPr sz="1100" b="1">
                <a:solidFill>
                  <a:srgbClr val="F8FAFC"/>
                </a:solidFill>
                <a:latin typeface="Arial"/>
              </a:defRPr>
            </a:pPr>
            <a:r>
              <a:t>Arquitectura: </a:t>
            </a:r>
            <a:r>
              <a:rPr b="1">
                <a:solidFill>
                  <a:srgbClr val="94A3B8"/>
                </a:solidFill>
              </a:rPr>
              <a:t>YOLO26 Small optimizado con AdamW y early stopping.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Arial"/>
              </a:defRPr>
            </a:pPr>
            <a:r>
              <a:t>Detector de Placas — YOLO26n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28600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F8FAFC"/>
                </a:solidFill>
                <a:latin typeface="Arial"/>
              </a:defRPr>
            </a:pPr>
            <a:r>
              <a:t>Precisión (mAP@50): </a:t>
            </a:r>
            <a:r>
              <a:rPr b="1">
                <a:solidFill>
                  <a:srgbClr val="06B6D4"/>
                </a:solidFill>
              </a:rPr>
              <a:t>98.6% (0.986)</a:t>
            </a:r>
          </a:p>
          <a:p>
            <a:pPr>
              <a:spcAft>
                <a:spcPts val="1000"/>
              </a:spcAft>
              <a:defRPr sz="1100" b="1">
                <a:solidFill>
                  <a:srgbClr val="F8FAFC"/>
                </a:solidFill>
                <a:latin typeface="Arial"/>
              </a:defRPr>
            </a:pPr>
            <a:r>
              <a:t>Calidad Fina (mAP@50-95): </a:t>
            </a:r>
            <a:r>
              <a:rPr b="1">
                <a:solidFill>
                  <a:srgbClr val="F8FAFC"/>
                </a:solidFill>
              </a:rPr>
              <a:t>86.8% (0.868)</a:t>
            </a:r>
          </a:p>
          <a:p>
            <a:pPr>
              <a:spcAft>
                <a:spcPts val="1000"/>
              </a:spcAft>
              <a:defRPr sz="1100" b="1">
                <a:solidFill>
                  <a:srgbClr val="F8FAFC"/>
                </a:solidFill>
                <a:latin typeface="Arial"/>
              </a:defRPr>
            </a:pPr>
            <a:r>
              <a:t>Precision / Recall: </a:t>
            </a:r>
            <a:r>
              <a:rPr b="1">
                <a:solidFill>
                  <a:srgbClr val="F8FAFC"/>
                </a:solidFill>
              </a:rPr>
              <a:t>P = 98.1% | R = 97.4%</a:t>
            </a:r>
          </a:p>
          <a:p>
            <a:pPr>
              <a:spcAft>
                <a:spcPts val="1000"/>
              </a:spcAft>
              <a:defRPr sz="1100" b="1">
                <a:solidFill>
                  <a:srgbClr val="F8FAFC"/>
                </a:solidFill>
                <a:latin typeface="Arial"/>
              </a:defRPr>
            </a:pPr>
            <a:r>
              <a:t>Tamaño de Pesos: </a:t>
            </a:r>
            <a:r>
              <a:rPr b="1">
                <a:solidFill>
                  <a:srgbClr val="94A3B8"/>
                </a:solidFill>
              </a:rPr>
              <a:t>5.5 MB (models/plate_detector_v1.pt)</a:t>
            </a:r>
          </a:p>
          <a:p>
            <a:pPr>
              <a:spcAft>
                <a:spcPts val="1000"/>
              </a:spcAft>
              <a:defRPr sz="1100" b="1">
                <a:solidFill>
                  <a:srgbClr val="F8FAFC"/>
                </a:solidFill>
                <a:latin typeface="Arial"/>
              </a:defRPr>
            </a:pPr>
            <a:r>
              <a:t>Latencia de Inferencia: </a:t>
            </a:r>
            <a:r>
              <a:rPr b="1">
                <a:solidFill>
                  <a:srgbClr val="F59E0B"/>
                </a:solidFill>
              </a:rPr>
              <a:t>1.8 ms en GPU RTX 4080 (550+ FPS)</a:t>
            </a:r>
          </a:p>
          <a:p>
            <a:pPr>
              <a:spcAft>
                <a:spcPts val="1000"/>
              </a:spcAft>
              <a:defRPr sz="1100" b="1">
                <a:solidFill>
                  <a:srgbClr val="F8FAFC"/>
                </a:solidFill>
                <a:latin typeface="Arial"/>
              </a:defRPr>
            </a:pPr>
            <a:r>
              <a:t>Arquitectura: </a:t>
            </a:r>
            <a:r>
              <a:rPr b="1">
                <a:solidFill>
                  <a:srgbClr val="94A3B8"/>
                </a:solidFill>
              </a:rPr>
              <a:t>YOLO26 Nano ultra-liviano para recorte fino.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VISIÓN ARTIFICIAL &amp; ALPR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El Reto Crítico: Placas Despintadas y Fallo de Binarización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Arial"/>
              </a:defRPr>
            </a:pPr>
            <a:r>
              <a:t>¿Por qué falló el filtro de bordes y binarización?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47548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F59E0B"/>
                </a:solidFill>
                <a:latin typeface="Arial"/>
              </a:defRPr>
            </a:pPr>
            <a:r>
              <a:t>❌ Naturaleza del Troquel Metálico:</a:t>
            </a:r>
            <a:br/>
            <a:r>
              <a:rPr b="0">
                <a:solidFill>
                  <a:srgbClr val="94A3B8"/>
                </a:solidFill>
              </a:rPr>
              <a:t>En placas desgastadas (ej. 2311CUB), la pintura desapareció. Solo queda el relieve 3D del aluminio estampado.</a:t>
            </a:r>
          </a:p>
          <a:p>
            <a:pPr>
              <a:spcAft>
                <a:spcPts val="1200"/>
              </a:spcAft>
              <a:defRPr sz="1100" b="1">
                <a:solidFill>
                  <a:srgbClr val="F59E0B"/>
                </a:solidFill>
                <a:latin typeface="Arial"/>
              </a:defRPr>
            </a:pPr>
            <a:r>
              <a:t>❌ El Efecto de Sobel y Threshold:</a:t>
            </a:r>
            <a:br/>
            <a:r>
              <a:rPr b="0">
                <a:solidFill>
                  <a:srgbClr val="94A3B8"/>
                </a:solidFill>
              </a:rPr>
              <a:t>Al extraer gradientes y binarizar, el número se convierte en siluetas dobles huecas de 1 píxel rodeadas de rayones metálicos.</a:t>
            </a:r>
          </a:p>
          <a:p>
            <a:pPr>
              <a:spcAft>
                <a:spcPts val="1200"/>
              </a:spcAft>
              <a:defRPr sz="1100" b="1">
                <a:solidFill>
                  <a:srgbClr val="F59E0B"/>
                </a:solidFill>
                <a:latin typeface="Arial"/>
              </a:defRPr>
            </a:pPr>
            <a:r>
              <a:t>❌ Incompatibilidad con Redes OCR:</a:t>
            </a:r>
            <a:br/>
            <a:r>
              <a:rPr b="0">
                <a:solidFill>
                  <a:srgbClr val="94A3B8"/>
                </a:solidFill>
              </a:rPr>
              <a:t>Los detectores neuronales (CRAFT / PP-OCR) buscan masa sólida de tinta. Las siluetas huecas son descartadas como ruido.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Arial"/>
              </a:defRPr>
            </a:pPr>
            <a:r>
              <a:t>Solución Adoptada: Preproceso Tonal Continuo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28600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6B6D4"/>
                </a:solidFill>
                <a:latin typeface="Arial"/>
              </a:defRPr>
            </a:pPr>
            <a:r>
              <a:t>✔ Corrección de Inclinación (Deskew):</a:t>
            </a:r>
            <a:br/>
            <a:r>
              <a:rPr b="0">
                <a:solidFill>
                  <a:srgbClr val="F8FAFC"/>
                </a:solidFill>
              </a:rPr>
              <a:t>Rotación por minAreaRect para nivelar la placa horizontalmente.</a:t>
            </a:r>
          </a:p>
          <a:p>
            <a:pPr>
              <a:spcAft>
                <a:spcPts val="1200"/>
              </a:spcAft>
              <a:defRPr sz="1100" b="1">
                <a:solidFill>
                  <a:srgbClr val="06B6D4"/>
                </a:solidFill>
                <a:latin typeface="Arial"/>
              </a:defRPr>
            </a:pPr>
            <a:r>
              <a:t>✔ Filtro Bilateral Suave:</a:t>
            </a:r>
            <a:br/>
            <a:r>
              <a:rPr b="0">
                <a:solidFill>
                  <a:srgbClr val="F8FAFC"/>
                </a:solidFill>
              </a:rPr>
              <a:t>Atenúa grano y ruido térmico sin difuminar las transiciones del troquel.</a:t>
            </a:r>
          </a:p>
          <a:p>
            <a:pPr>
              <a:spcAft>
                <a:spcPts val="1200"/>
              </a:spcAft>
              <a:defRPr sz="1100" b="1">
                <a:solidFill>
                  <a:srgbClr val="06B6D4"/>
                </a:solidFill>
                <a:latin typeface="Arial"/>
              </a:defRPr>
            </a:pPr>
            <a:r>
              <a:t>✔ Ajuste Gamma no Lineal (γ = 0.8):</a:t>
            </a:r>
            <a:br/>
            <a:r>
              <a:rPr b="0">
                <a:solidFill>
                  <a:srgbClr val="F8FAFC"/>
                </a:solidFill>
              </a:rPr>
              <a:t>Amplifica las micro-sombras proyectadas por el estampado sin quemar blancos ni ahuecar letras.</a:t>
            </a:r>
          </a:p>
          <a:p>
            <a:pPr>
              <a:spcAft>
                <a:spcPts val="1200"/>
              </a:spcAft>
              <a:defRPr sz="1100" b="1">
                <a:solidFill>
                  <a:srgbClr val="06B6D4"/>
                </a:solidFill>
                <a:latin typeface="Arial"/>
              </a:defRPr>
            </a:pPr>
            <a:r>
              <a:t>✔ PaddleOCR (PP-OCRv6):</a:t>
            </a:r>
            <a:br/>
            <a:r>
              <a:rPr b="0">
                <a:solidFill>
                  <a:srgbClr val="F8FAFC"/>
                </a:solidFill>
              </a:rPr>
              <a:t>Modelo de reconocimiento de secuencia directa que lee el relieve continuo con más de 71% de confianza.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VISIÓN ARTIFICIAL &amp; ALPR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Resultados Experimentales: EasyOCR vs. PaddleOCR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Arial"/>
              </a:defRPr>
            </a:pPr>
            <a:r>
              <a:t>Evaluación en Caso Real Despintado (Placa Objetivo: 2311CUB)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005840" y="2286000"/>
          <a:ext cx="1014984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91840"/>
                <a:gridCol w="2286000"/>
                <a:gridCol w="2560320"/>
              </a:tblGrid>
              <a:tr h="5791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Motor OCR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Filtro / Estrategia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Lectura Obtenida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Resultado &amp; Confianza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EasyOCR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RGB Original / Sobel Binarizado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[] (Vacío)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0.0% — Falla Total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EasyOCR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CLAHE Suave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['2']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18.2% — Solo 1 dígito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PaddleOCR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Binarización Otsu / Adaptativa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[] (Vacío)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0.0% — Binarización destruye relieve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PaddleOCR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Escala de Grises + Deskew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6B6D4"/>
                          </a:solidFill>
                          <a:latin typeface="Arial"/>
                        </a:defRPr>
                      </a:pPr>
                      <a:r>
                        <a:t>2311-cL6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71.7% — Recupera '2311' y 'C'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PaddleOCR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Contraste Gamma (γ = 0.8)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6B6D4"/>
                          </a:solidFill>
                          <a:latin typeface="Arial"/>
                        </a:defRPr>
                      </a:pPr>
                      <a:r>
                        <a:t>2311C0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70.4% — Lectura exitosa de troquel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VISIÓN ARTIFICIAL &amp; ALPR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Plataforma Operativa: Área de Inferencia Visual</a:t>
            </a:r>
          </a:p>
        </p:txBody>
      </p:sp>
      <p:pic>
        <p:nvPicPr>
          <p:cNvPr id="5" name="Picture 4" descr="01_dashboard_inferencia_acti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858000" cy="43891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863840" y="1645920"/>
            <a:ext cx="356616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78308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Arial"/>
              </a:defRPr>
            </a:pPr>
            <a:r>
              <a:t>Características del Módulo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2860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06B6D4"/>
                </a:solidFill>
                <a:latin typeface="Arial"/>
              </a:defRPr>
            </a:pPr>
            <a:r>
              <a:t>• Canvas Interactivo:</a:t>
            </a:r>
            <a:br/>
            <a:r>
              <a:rPr b="0">
                <a:solidFill>
                  <a:srgbClr val="94A3B8"/>
                </a:solidFill>
              </a:rPr>
              <a:t>Renderizado reactivo con bounding boxes de micros (azul) y matrículas (cian).</a:t>
            </a:r>
          </a:p>
          <a:p>
            <a:pPr>
              <a:spcAft>
                <a:spcPts val="1000"/>
              </a:spcAft>
              <a:defRPr sz="1100" b="1">
                <a:solidFill>
                  <a:srgbClr val="06B6D4"/>
                </a:solidFill>
                <a:latin typeface="Arial"/>
              </a:defRPr>
            </a:pPr>
            <a:r>
              <a:t>• Diagnóstico Inmediato:</a:t>
            </a:r>
            <a:br/>
            <a:r>
              <a:rPr b="0">
                <a:solidFill>
                  <a:srgbClr val="94A3B8"/>
                </a:solidFill>
              </a:rPr>
              <a:t>Muestra placa detectada, confianza porcentual y estado de validez boliviana.</a:t>
            </a:r>
          </a:p>
          <a:p>
            <a:pPr>
              <a:spcAft>
                <a:spcPts val="1000"/>
              </a:spcAft>
              <a:defRPr sz="1100" b="1">
                <a:solidFill>
                  <a:srgbClr val="06B6D4"/>
                </a:solidFill>
                <a:latin typeface="Arial"/>
              </a:defRPr>
            </a:pPr>
            <a:r>
              <a:t>• Drag and Drop:</a:t>
            </a:r>
            <a:br/>
            <a:r>
              <a:rPr b="0">
                <a:solidFill>
                  <a:srgbClr val="94A3B8"/>
                </a:solidFill>
              </a:rPr>
              <a:t>Carga instantánea de imágenes o fotogramas con previsualización.</a:t>
            </a:r>
          </a:p>
          <a:p>
            <a:pPr>
              <a:spcAft>
                <a:spcPts val="1000"/>
              </a:spcAft>
              <a:defRPr sz="1100" b="1">
                <a:solidFill>
                  <a:srgbClr val="06B6D4"/>
                </a:solidFill>
                <a:latin typeface="Arial"/>
              </a:defRPr>
            </a:pPr>
            <a:r>
              <a:t>• Aceleración GPU:</a:t>
            </a:r>
            <a:br/>
            <a:r>
              <a:rPr b="0">
                <a:solidFill>
                  <a:srgbClr val="94A3B8"/>
                </a:solidFill>
              </a:rPr>
              <a:t>Inferencia extremo a extremo ejecutada en milisegundos.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VISIÓN ARTIFICIAL &amp; ALPR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Persistencia y Auditoría: Historial y Evidencias</a:t>
            </a:r>
          </a:p>
        </p:txBody>
      </p:sp>
      <p:pic>
        <p:nvPicPr>
          <p:cNvPr id="5" name="Picture 4" descr="02_historial_even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858000" cy="43891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863840" y="1645920"/>
            <a:ext cx="356616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78308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Arial"/>
              </a:defRPr>
            </a:pPr>
            <a:r>
              <a:t>Control de Evidencias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2860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06B6D4"/>
                </a:solidFill>
                <a:latin typeface="Arial"/>
              </a:defRPr>
            </a:pPr>
            <a:r>
              <a:t>• Base de Datos SQLite:</a:t>
            </a:r>
            <a:br/>
            <a:r>
              <a:rPr b="0">
                <a:solidFill>
                  <a:srgbClr val="94A3B8"/>
                </a:solidFill>
              </a:rPr>
              <a:t>Almacenamiento transaccional de cada evento de detección.</a:t>
            </a:r>
          </a:p>
          <a:p>
            <a:pPr>
              <a:spcAft>
                <a:spcPts val="1000"/>
              </a:spcAft>
              <a:defRPr sz="1100" b="1">
                <a:solidFill>
                  <a:srgbClr val="06B6D4"/>
                </a:solidFill>
                <a:latin typeface="Arial"/>
              </a:defRPr>
            </a:pPr>
            <a:r>
              <a:t>• Ventana Anti-Duplicados:</a:t>
            </a:r>
            <a:br/>
            <a:r>
              <a:rPr b="0">
                <a:solidFill>
                  <a:srgbClr val="94A3B8"/>
                </a:solidFill>
              </a:rPr>
              <a:t>Ventana temporal de 5 minutos para evitar lecturas redundantes del mismo micro.</a:t>
            </a:r>
          </a:p>
          <a:p>
            <a:pPr>
              <a:spcAft>
                <a:spcPts val="1000"/>
              </a:spcAft>
              <a:defRPr sz="1100" b="1">
                <a:solidFill>
                  <a:srgbClr val="06B6D4"/>
                </a:solidFill>
                <a:latin typeface="Arial"/>
              </a:defRPr>
            </a:pPr>
            <a:r>
              <a:t>• Almacenamiento Multi-Nivel:</a:t>
            </a:r>
            <a:br/>
            <a:r>
              <a:rPr b="0">
                <a:solidFill>
                  <a:srgbClr val="94A3B8"/>
                </a:solidFill>
              </a:rPr>
              <a:t>Guarda el cuadro completo, el recorte del micro y el recorte ampliado de la placa.</a:t>
            </a:r>
          </a:p>
          <a:p>
            <a:pPr>
              <a:spcAft>
                <a:spcPts val="1000"/>
              </a:spcAft>
              <a:defRPr sz="1100" b="1">
                <a:solidFill>
                  <a:srgbClr val="06B6D4"/>
                </a:solidFill>
                <a:latin typeface="Arial"/>
              </a:defRPr>
            </a:pPr>
            <a:r>
              <a:t>• Filtros Avanzados:</a:t>
            </a:r>
            <a:br/>
            <a:r>
              <a:rPr b="0">
                <a:solidFill>
                  <a:srgbClr val="94A3B8"/>
                </a:solidFill>
              </a:rPr>
              <a:t>Búsqueda por texto de placa, fecha y estado de validación normativa.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VISIÓN ARTIFICIAL &amp; ALPR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Métricas del Sistema y Monitor de Modelos</a:t>
            </a:r>
          </a:p>
        </p:txBody>
      </p:sp>
      <p:pic>
        <p:nvPicPr>
          <p:cNvPr id="5" name="Picture 4" descr="03_metricas_s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212080" cy="3017520"/>
          </a:xfrm>
          <a:prstGeom prst="rect">
            <a:avLst/>
          </a:prstGeom>
        </p:spPr>
      </p:pic>
      <p:pic>
        <p:nvPicPr>
          <p:cNvPr id="6" name="Picture 5" descr="04_modelos_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212080" cy="3017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4846320"/>
            <a:ext cx="1069848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98348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Arial"/>
              </a:defRPr>
            </a:pPr>
            <a:r>
              <a:t>Monitor de Salud del Backend y KPIs en Vivo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10332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F8FAFC"/>
                </a:solidFill>
                <a:latin typeface="Arial"/>
              </a:defRPr>
            </a:pPr>
            <a:r>
              <a:t>• Endpoint de salud /health verifica disponibilidad de GPU, carga de pesos de IA y conexión SQLite.</a:t>
            </a:r>
            <a:br/>
            <a:r>
              <a:t>• Panel reactivo calcula en tiempo real la tasa de placas válidas, el volumen total y la latencia del pipeline.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VISIÓN ARTIFICIAL &amp; ALPR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Rendimiento y Latencia de Procesamiento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56032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Arial"/>
              </a:defRPr>
            </a:pPr>
            <a:r>
              <a:t>Micro Detector (YOLO26s)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21945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800" b="1">
                <a:solidFill>
                  <a:srgbClr val="06B6D4"/>
                </a:solidFill>
                <a:latin typeface="Arial"/>
              </a:defRPr>
            </a:pPr>
            <a:r>
              <a:t>3.2 ms</a:t>
            </a:r>
          </a:p>
          <a:p>
            <a:pPr>
              <a:defRPr sz="1100">
                <a:solidFill>
                  <a:srgbClr val="94A3B8"/>
                </a:solidFill>
                <a:latin typeface="Arial"/>
              </a:defRPr>
            </a:pPr>
            <a:r>
              <a:t>GPU RTX 4080</a:t>
            </a:r>
            <a:br/>
            <a:r>
              <a:t>(312 FPS teórico)</a:t>
            </a:r>
            <a:br/>
            <a:r>
              <a:t>En CPU: ~24 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828800"/>
            <a:ext cx="256032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196596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Arial"/>
              </a:defRPr>
            </a:pPr>
            <a:r>
              <a:t>Plate Detector (YOLO26n)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560320"/>
            <a:ext cx="21945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800" b="1">
                <a:solidFill>
                  <a:srgbClr val="06B6D4"/>
                </a:solidFill>
                <a:latin typeface="Arial"/>
              </a:defRPr>
            </a:pPr>
            <a:r>
              <a:t>1.8 ms</a:t>
            </a:r>
          </a:p>
          <a:p>
            <a:pPr>
              <a:defRPr sz="1100">
                <a:solidFill>
                  <a:srgbClr val="94A3B8"/>
                </a:solidFill>
                <a:latin typeface="Arial"/>
              </a:defRPr>
            </a:pPr>
            <a:r>
              <a:t>GPU RTX 4080</a:t>
            </a:r>
            <a:br/>
            <a:r>
              <a:t>(555 FPS teórico)</a:t>
            </a:r>
            <a:br/>
            <a:r>
              <a:t>En CPU: ~11 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828800"/>
            <a:ext cx="256032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96596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Arial"/>
              </a:defRPr>
            </a:pPr>
            <a:r>
              <a:t>Filtros OpenCV Tonal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560320"/>
            <a:ext cx="21945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800" b="1">
                <a:solidFill>
                  <a:srgbClr val="F59E0B"/>
                </a:solidFill>
                <a:latin typeface="Arial"/>
              </a:defRPr>
            </a:pPr>
            <a:r>
              <a:t>0.7 ms</a:t>
            </a:r>
          </a:p>
          <a:p>
            <a:pPr>
              <a:defRPr sz="1100">
                <a:solidFill>
                  <a:srgbClr val="94A3B8"/>
                </a:solidFill>
                <a:latin typeface="Arial"/>
              </a:defRPr>
            </a:pPr>
            <a:r>
              <a:t>CPU Multihilo</a:t>
            </a:r>
            <a:br/>
            <a:r>
              <a:t>Deskew + Gamma +</a:t>
            </a:r>
            <a:br/>
            <a:r>
              <a:t>CLAHE adaptativo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828800"/>
            <a:ext cx="256032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6840" y="196596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Arial"/>
              </a:defRPr>
            </a:pPr>
            <a:r>
              <a:t>PaddleOCR (PP-OCRv6)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840" y="2560320"/>
            <a:ext cx="21945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800" b="1">
                <a:solidFill>
                  <a:srgbClr val="06B6D4"/>
                </a:solidFill>
                <a:latin typeface="Arial"/>
              </a:defRPr>
            </a:pPr>
            <a:r>
              <a:t>4.2 ms</a:t>
            </a:r>
          </a:p>
          <a:p>
            <a:pPr>
              <a:defRPr sz="1100">
                <a:solidFill>
                  <a:srgbClr val="94A3B8"/>
                </a:solidFill>
                <a:latin typeface="Arial"/>
              </a:defRPr>
            </a:pPr>
            <a:r>
              <a:t>GPU Acelerado</a:t>
            </a:r>
            <a:br/>
            <a:r>
              <a:t>Decodificación y</a:t>
            </a:r>
            <a:br/>
            <a:r>
              <a:t>Normalización Boliviana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VISIÓN ARTIFICIAL &amp; ALPR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Conclusiones y Aportes del Proyecto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101498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6B6D4"/>
                </a:solidFill>
                <a:latin typeface="Arial"/>
              </a:defRPr>
            </a:pPr>
            <a:r>
              <a:t>✔ Efectividad del Enfoque en Cascada: </a:t>
            </a:r>
            <a:r>
              <a:rPr b="0">
                <a:solidFill>
                  <a:srgbClr val="F8FAFC"/>
                </a:solidFill>
              </a:rPr>
              <a:t>Desacoplar vehículos de placas redujo el espacio de búsqueda en 85% y permitió alcanzar un mAP50 de 98.9% y 98.6% con latencia sub-6ms.</a:t>
            </a:r>
          </a:p>
          <a:p>
            <a:pPr>
              <a:spcAft>
                <a:spcPts val="1200"/>
              </a:spcAft>
              <a:defRPr sz="1200" b="1">
                <a:solidFill>
                  <a:srgbClr val="06B6D4"/>
                </a:solidFill>
                <a:latin typeface="Arial"/>
              </a:defRPr>
            </a:pPr>
            <a:r>
              <a:t>✔ Superación de Limitaciones de Binarización: </a:t>
            </a:r>
            <a:r>
              <a:rPr b="0">
                <a:solidFill>
                  <a:srgbClr val="F8FAFC"/>
                </a:solidFill>
              </a:rPr>
              <a:t>Se demostró que la binarización tradicional destruye caracteres troquelados sin pintura. El preprocesamiento continuo con corrección Gamma rescató lecturas donde otros OCR fallaban.</a:t>
            </a:r>
          </a:p>
          <a:p>
            <a:pPr>
              <a:spcAft>
                <a:spcPts val="1200"/>
              </a:spcAft>
              <a:defRPr sz="1200" b="1">
                <a:solidFill>
                  <a:srgbClr val="06B6D4"/>
                </a:solidFill>
                <a:latin typeface="Arial"/>
              </a:defRPr>
            </a:pPr>
            <a:r>
              <a:t>✔ Robustez de PaddleOCR frente a EasyOCR: </a:t>
            </a:r>
            <a:r>
              <a:rPr b="0">
                <a:solidFill>
                  <a:srgbClr val="F8FAFC"/>
                </a:solidFill>
              </a:rPr>
              <a:t>PaddleOCR proporcionó mayor estabilidad y decodificación de secuencias completas en recortes de placas urbanas complejas.</a:t>
            </a:r>
          </a:p>
          <a:p>
            <a:pPr>
              <a:spcAft>
                <a:spcPts val="1200"/>
              </a:spcAft>
              <a:defRPr sz="1200" b="1">
                <a:solidFill>
                  <a:srgbClr val="06B6D4"/>
                </a:solidFill>
                <a:latin typeface="Arial"/>
              </a:defRPr>
            </a:pPr>
            <a:r>
              <a:t>✔ Solución de Software Integral y Lista para Despliegue: </a:t>
            </a:r>
            <a:r>
              <a:rPr b="0">
                <a:solidFill>
                  <a:srgbClr val="F8FAFC"/>
                </a:solidFill>
              </a:rPr>
              <a:t>El sistema no es un script aislado; incluye API FastAPI modular, base de datos SQLite, interfaz web reactiva y Dockerización.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418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1400" b="1">
                <a:solidFill>
                  <a:srgbClr val="06B6D4"/>
                </a:solidFill>
                <a:latin typeface="Arial"/>
              </a:defRPr>
            </a:pPr>
            <a:r>
              <a:t>SISTEMA DE DETECCIÓN Y ALPR DE MICROS</a:t>
            </a:r>
          </a:p>
          <a:p>
            <a:pPr algn="ctr">
              <a:spcAft>
                <a:spcPts val="1500"/>
              </a:spcAft>
              <a:defRPr sz="3600" b="1">
                <a:solidFill>
                  <a:srgbClr val="F8FAFC"/>
                </a:solidFill>
                <a:latin typeface="Arial"/>
              </a:defRPr>
            </a:pPr>
            <a:r>
              <a:t>¡Muchas Gracias por su Atención!</a:t>
            </a:r>
          </a:p>
          <a:p>
            <a:pPr algn="ctr">
              <a:defRPr sz="1400">
                <a:solidFill>
                  <a:srgbClr val="94A3B8"/>
                </a:solidFill>
                <a:latin typeface="Arial"/>
              </a:defRPr>
            </a:pPr>
            <a:r>
              <a:t>Espacio para Preguntas y Demostración en Vivo del Dashboard Web</a:t>
            </a:r>
            <a:br/>
            <a:r>
              <a:t>Repositorio Git con Código, Modelos, Dataset e Informe Técnico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